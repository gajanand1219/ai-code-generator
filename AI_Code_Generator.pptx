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BF02A1-BECE-4E7E-9C49-BBE3A14C8BA4}" v="1356" dt="2026-09-22T20:53:57.0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846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16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742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560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076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495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209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7198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6033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18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247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2925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0912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5944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675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70865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6059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6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/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4039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de-ge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58368"/>
            <a:ext cx="1051560" cy="7288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2149" y="1564866"/>
            <a:ext cx="5577840" cy="83099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4800" b="1" dirty="0" err="1">
                <a:solidFill>
                  <a:srgbClr val="F6F8FC"/>
                </a:solidFill>
                <a:latin typeface="Aptos Display"/>
              </a:rPr>
              <a:t>AutoGen</a:t>
            </a:r>
            <a:r>
              <a:rPr sz="4800" b="1" dirty="0">
                <a:solidFill>
                  <a:srgbClr val="F6F8FC"/>
                </a:solidFill>
                <a:latin typeface="Aptos Display"/>
              </a:rPr>
              <a:t> AI</a:t>
            </a:r>
            <a:endParaRPr lang="en-US" sz="4800" b="1">
              <a:solidFill>
                <a:srgbClr val="F6F8FC"/>
              </a:solidFill>
              <a:latin typeface="Aptos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458" y="2404872"/>
            <a:ext cx="5669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1">
                <a:solidFill>
                  <a:srgbClr val="46D3FF"/>
                </a:solidFill>
                <a:latin typeface="Aptos"/>
              </a:rPr>
              <a:t>Multi-AI Code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4759" y="2918549"/>
            <a:ext cx="5303520" cy="646331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b="0" dirty="0">
                <a:solidFill>
                  <a:srgbClr val="ABB7D0"/>
                </a:solidFill>
                <a:latin typeface="Aptos"/>
              </a:rPr>
              <a:t>Create • Edit • Preview • Debug • Deploy
websites using natural language, voice and images.</a:t>
            </a:r>
            <a:endParaRPr lang="en-US" b="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7471" y="3735052"/>
            <a:ext cx="824422" cy="331773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8F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2963" y="3776200"/>
            <a:ext cx="635110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200" b="1" dirty="0">
                <a:solidFill>
                  <a:srgbClr val="8F5CFF"/>
                </a:solidFill>
                <a:latin typeface="Aptos"/>
              </a:rPr>
              <a:t>GENAI</a:t>
            </a:r>
            <a:endParaRPr lang="en-US" sz="1200" b="1">
              <a:solidFill>
                <a:srgbClr val="8F5C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449053" y="3776806"/>
            <a:ext cx="10515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AE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420707" y="3776201"/>
            <a:ext cx="753348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200" b="1" dirty="0">
                <a:solidFill>
                  <a:srgbClr val="4AE499"/>
                </a:solidFill>
                <a:latin typeface="Aptos"/>
              </a:rPr>
              <a:t>FASTAPI</a:t>
            </a:r>
            <a:endParaRPr lang="en-US" sz="1200" b="1" dirty="0">
              <a:solidFill>
                <a:srgbClr val="4AE499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679526" y="3735053"/>
            <a:ext cx="96012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30850" y="3755324"/>
            <a:ext cx="648704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200" b="1" dirty="0">
                <a:solidFill>
                  <a:srgbClr val="46D3FF"/>
                </a:solidFill>
                <a:latin typeface="Aptos"/>
              </a:rPr>
              <a:t>REACT</a:t>
            </a:r>
            <a:endParaRPr lang="en-US" sz="1200" b="1" dirty="0">
              <a:solidFill>
                <a:srgbClr val="46D3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776806" y="3735053"/>
            <a:ext cx="91440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FF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78843" y="3734447"/>
            <a:ext cx="618054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200" b="1" dirty="0">
                <a:solidFill>
                  <a:srgbClr val="FFAA4A"/>
                </a:solidFill>
                <a:latin typeface="Aptos"/>
              </a:rPr>
              <a:t>GROQ</a:t>
            </a:r>
            <a:endParaRPr lang="en-US" sz="1200" b="1" dirty="0">
              <a:solidFill>
                <a:srgbClr val="FFAA4A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4834163"/>
            <a:ext cx="5303520" cy="307777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400" b="0" dirty="0">
                <a:solidFill>
                  <a:srgbClr val="ABB7D0"/>
                </a:solidFill>
                <a:latin typeface="Aptos"/>
              </a:rPr>
              <a:t>Presented by</a:t>
            </a:r>
            <a:endParaRPr lang="en-US" sz="1400" b="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5167473"/>
            <a:ext cx="5303520" cy="40011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2000" b="1" dirty="0">
                <a:solidFill>
                  <a:schemeClr val="accent1"/>
                </a:solidFill>
                <a:highlight>
                  <a:srgbClr val="FFFF00"/>
                </a:highlight>
                <a:latin typeface="Aptos"/>
              </a:rPr>
              <a:t>Gajanan Deshmukh</a:t>
            </a:r>
            <a:endParaRPr lang="en-US" sz="2000" b="1">
              <a:solidFill>
                <a:schemeClr val="accent1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8512" y="5596128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0">
                <a:solidFill>
                  <a:srgbClr val="ABB7D0"/>
                </a:solidFill>
                <a:latin typeface="Aptos"/>
              </a:rPr>
              <a:t>AI / GenAI Developer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042" y="1033807"/>
            <a:ext cx="6329748" cy="49133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1" name="Rounded Rectangle 20"/>
          <p:cNvSpPr/>
          <p:nvPr/>
        </p:nvSpPr>
        <p:spPr>
          <a:xfrm>
            <a:off x="5158636" y="654401"/>
            <a:ext cx="7025848" cy="5302060"/>
          </a:xfrm>
          <a:prstGeom prst="roundRect">
            <a:avLst/>
          </a:prstGeom>
          <a:noFill/>
          <a:ln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395158" y="6136585"/>
            <a:ext cx="224028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63048" y="6177733"/>
            <a:ext cx="216712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LIVE CODE + LIVE PREVIEW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01</a:t>
            </a:r>
          </a:p>
        </p:txBody>
      </p:sp>
      <p:pic>
        <p:nvPicPr>
          <p:cNvPr id="26" name="Picture 25" descr="code-gen-logo.png">
            <a:extLst>
              <a:ext uri="{FF2B5EF4-FFF2-40B4-BE49-F238E27FC236}">
                <a16:creationId xmlns:a16="http://schemas.microsoft.com/office/drawing/2014/main" id="{42A0F505-A074-04A8-4603-C607BEF2A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16" y="-354155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993F933-69E4-781F-A148-2D102B3A2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01  |  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5749587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A single AI-assisted workspace for turning ideas into functional websites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4299" y="1413353"/>
            <a:ext cx="5814999" cy="4210207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0" name="Rectangle 9"/>
          <p:cNvSpPr/>
          <p:nvPr/>
        </p:nvSpPr>
        <p:spPr>
          <a:xfrm>
            <a:off x="14648354" y="2217107"/>
            <a:ext cx="50292" cy="425196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536192"/>
            <a:ext cx="491032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6F8FC"/>
                </a:solidFill>
                <a:latin typeface="Aptos"/>
              </a:rPr>
              <a:t>What is AutoGen AI?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173" y="2016857"/>
            <a:ext cx="5794009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sz="1600" dirty="0" err="1">
                <a:solidFill>
                  <a:srgbClr val="ABB7D0"/>
                </a:solidFill>
                <a:latin typeface="Aptos"/>
              </a:rPr>
              <a:t>AutoGen</a:t>
            </a:r>
            <a:r>
              <a:rPr sz="1600" dirty="0">
                <a:solidFill>
                  <a:srgbClr val="ABB7D0"/>
                </a:solidFill>
                <a:latin typeface="Aptos"/>
              </a:rPr>
              <a:t> AI is an AI-powered web development platform</a:t>
            </a:r>
            <a:endParaRPr lang="en-US" sz="1600" dirty="0">
              <a:solidFill>
                <a:srgbClr val="FFFFFF"/>
              </a:solidFill>
              <a:latin typeface="Century Gothic" panose="020B0502020202020204"/>
            </a:endParaRPr>
          </a:p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 </a:t>
            </a:r>
            <a:r>
              <a:rPr sz="1600" dirty="0">
                <a:solidFill>
                  <a:srgbClr val="ABB7D0"/>
                </a:solidFill>
                <a:latin typeface="Aptos"/>
              </a:rPr>
              <a:t>that lets users create,</a:t>
            </a:r>
            <a:r>
              <a:rPr lang="en-US" sz="1600" dirty="0">
                <a:solidFill>
                  <a:srgbClr val="ABB7D0"/>
                </a:solidFill>
                <a:latin typeface="Aptos"/>
              </a:rPr>
              <a:t> </a:t>
            </a:r>
            <a:r>
              <a:rPr sz="1600" dirty="0">
                <a:solidFill>
                  <a:srgbClr val="ABB7D0"/>
                </a:solidFill>
                <a:latin typeface="Aptos"/>
              </a:rPr>
              <a:t>inspect and refine websites without </a:t>
            </a:r>
            <a:endParaRPr lang="en-US" sz="1600" dirty="0">
              <a:solidFill>
                <a:srgbClr val="FFFFFF"/>
              </a:solidFill>
              <a:latin typeface="Century Gothic" panose="020B0502020202020204"/>
            </a:endParaRPr>
          </a:p>
          <a:p>
            <a:r>
              <a:rPr sz="1600" dirty="0">
                <a:solidFill>
                  <a:srgbClr val="ABB7D0"/>
                </a:solidFill>
                <a:latin typeface="Aptos"/>
              </a:rPr>
              <a:t>manually writing every part of the frontend.</a:t>
            </a:r>
            <a:endParaRPr lang="en-US" sz="1600" dirty="0">
              <a:solidFill>
                <a:srgbClr val="FFFFFF"/>
              </a:solidFill>
              <a:latin typeface="Century Gothic" panose="020B0502020202020204"/>
            </a:endParaRPr>
          </a:p>
          <a:p>
            <a:r>
              <a:rPr sz="1600" dirty="0">
                <a:solidFill>
                  <a:srgbClr val="ABB7D0"/>
                </a:solidFill>
                <a:latin typeface="Aptos"/>
              </a:rPr>
              <a:t>
The platform combines natural-language prompting, </a:t>
            </a:r>
            <a:endParaRPr lang="en-US" sz="1600">
              <a:solidFill>
                <a:srgbClr val="FFFFFF"/>
              </a:solidFill>
              <a:latin typeface="Century Gothic" panose="020B0502020202020204"/>
            </a:endParaRPr>
          </a:p>
          <a:p>
            <a:r>
              <a:rPr sz="1600" dirty="0">
                <a:solidFill>
                  <a:srgbClr val="ABB7D0"/>
                </a:solidFill>
                <a:latin typeface="Aptos"/>
              </a:rPr>
              <a:t>voice input, </a:t>
            </a:r>
            <a:r>
              <a:rPr lang="en-US" sz="1600" dirty="0">
                <a:solidFill>
                  <a:srgbClr val="ABB7D0"/>
                </a:solidFill>
                <a:latin typeface="Aptos"/>
              </a:rPr>
              <a:t>image-to-website </a:t>
            </a:r>
            <a:r>
              <a:rPr sz="1600" dirty="0">
                <a:solidFill>
                  <a:srgbClr val="ABB7D0"/>
                </a:solidFill>
                <a:latin typeface="Aptos"/>
              </a:rPr>
              <a:t>generation, a live code editor,</a:t>
            </a:r>
            <a:endParaRPr lang="en-US" sz="1600" dirty="0">
              <a:solidFill>
                <a:srgbClr val="FFFFFF"/>
              </a:solidFill>
              <a:latin typeface="Century Gothic" panose="020B0502020202020204"/>
            </a:endParaRPr>
          </a:p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 </a:t>
            </a:r>
            <a:r>
              <a:rPr sz="1600" dirty="0">
                <a:solidFill>
                  <a:srgbClr val="ABB7D0"/>
                </a:solidFill>
                <a:latin typeface="Aptos"/>
              </a:rPr>
              <a:t>real-time preview, project management and </a:t>
            </a:r>
            <a:r>
              <a:rPr sz="1600" dirty="0" err="1">
                <a:solidFill>
                  <a:srgbClr val="ABB7D0"/>
                </a:solidFill>
                <a:latin typeface="Aptos"/>
              </a:rPr>
              <a:t>Vercel</a:t>
            </a:r>
            <a:endParaRPr lang="en-US" sz="1600">
              <a:solidFill>
                <a:srgbClr val="FFFFFF"/>
              </a:solidFill>
              <a:latin typeface="Century Gothic" panose="020B0502020202020204"/>
            </a:endParaRPr>
          </a:p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 </a:t>
            </a:r>
            <a:r>
              <a:rPr sz="1600" dirty="0">
                <a:solidFill>
                  <a:srgbClr val="ABB7D0"/>
                </a:solidFill>
                <a:latin typeface="Aptos"/>
              </a:rPr>
              <a:t>deployment.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257800" cy="84124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371600"/>
            <a:ext cx="50292" cy="841248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73952" y="1536192"/>
            <a:ext cx="2520305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Natural Language → Code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3952" y="1797652"/>
            <a:ext cx="2257926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>
                <a:solidFill>
                  <a:srgbClr val="ABB7D0"/>
                </a:solidFill>
                <a:latin typeface="Aptos"/>
              </a:rPr>
              <a:t>Describe the website you want.</a:t>
            </a:r>
            <a:endParaRPr lang="en-US" sz="12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2404872"/>
            <a:ext cx="5257800" cy="84124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2404872"/>
            <a:ext cx="50292" cy="841248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569464"/>
            <a:ext cx="1250279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Voice → Code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73952" y="2893554"/>
            <a:ext cx="2865400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>
                <a:solidFill>
                  <a:srgbClr val="ABB7D0"/>
                </a:solidFill>
                <a:latin typeface="Aptos"/>
              </a:rPr>
              <a:t>Speak the requirement instead of typing.</a:t>
            </a:r>
            <a:endParaRPr lang="en-US" sz="12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63640" y="3438144"/>
            <a:ext cx="5257800" cy="84124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438144"/>
            <a:ext cx="50292" cy="841248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73952" y="3602736"/>
            <a:ext cx="1537922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Image → Website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73952" y="3916388"/>
            <a:ext cx="254685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>
                <a:solidFill>
                  <a:srgbClr val="ABB7D0"/>
                </a:solidFill>
                <a:latin typeface="Aptos"/>
              </a:rPr>
              <a:t>Use a UI screenshot as visual input.</a:t>
            </a:r>
            <a:endParaRPr lang="en-US" sz="12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263640" y="4471416"/>
            <a:ext cx="5257800" cy="84124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263640" y="4471416"/>
            <a:ext cx="50292" cy="841248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73952" y="4636007"/>
            <a:ext cx="1626023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AI Code Assistant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73952" y="4949660"/>
            <a:ext cx="2639569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>
                <a:solidFill>
                  <a:srgbClr val="ABB7D0"/>
                </a:solidFill>
                <a:latin typeface="Aptos"/>
              </a:rPr>
              <a:t>Modify, debug, refactor and optimize.</a:t>
            </a:r>
            <a:endParaRPr lang="en-US" sz="12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02</a:t>
            </a:r>
          </a:p>
        </p:txBody>
      </p:sp>
      <p:pic>
        <p:nvPicPr>
          <p:cNvPr id="31" name="Picture 30" descr="code-gen-logo.png">
            <a:extLst>
              <a:ext uri="{FF2B5EF4-FFF2-40B4-BE49-F238E27FC236}">
                <a16:creationId xmlns:a16="http://schemas.microsoft.com/office/drawing/2014/main" id="{E835972F-9179-6D2F-81A7-729BD36DE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1340" y="-468979"/>
            <a:ext cx="2064080" cy="188748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3" name="Picture 32" descr="code-gen-logo.png">
            <a:extLst>
              <a:ext uri="{FF2B5EF4-FFF2-40B4-BE49-F238E27FC236}">
                <a16:creationId xmlns:a16="http://schemas.microsoft.com/office/drawing/2014/main" id="{EF4A7CF9-6C98-51E6-F900-2253B1ABD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16" y="-354155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397918AB-5E1F-64EB-98E7-6035B3F432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02  |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7940379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Traditional website development creates friction across coding, iteration, debugging and deployment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5256" y="1305261"/>
            <a:ext cx="3429000" cy="16002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0292" cy="160020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581912"/>
            <a:ext cx="180010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Repetitive coding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2020824"/>
            <a:ext cx="305622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HTML, CSS and JavaScript need to be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written and updated manually.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59536" y="2578608"/>
            <a:ext cx="475488" cy="274320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2619756"/>
            <a:ext cx="40233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46D3FF"/>
                </a:solidFill>
                <a:latin typeface="Aptos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417320"/>
            <a:ext cx="3429000" cy="16002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434840" y="1417320"/>
            <a:ext cx="50292" cy="160020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45152" y="1581912"/>
            <a:ext cx="138121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Idea → UI gap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645152" y="2020824"/>
            <a:ext cx="298229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Turning a requirement or screenshot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into a working interface takes effort.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654296" y="2578608"/>
            <a:ext cx="475488" cy="274320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8F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90872" y="2619756"/>
            <a:ext cx="40233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8F5CFF"/>
                </a:solidFill>
                <a:latin typeface="Aptos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417320"/>
            <a:ext cx="3429000" cy="16002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1417320"/>
            <a:ext cx="50292" cy="160020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39912" y="1581912"/>
            <a:ext cx="170713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Manual iteration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439912" y="2020824"/>
            <a:ext cx="2708755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Frequent design changes require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repeated </a:t>
            </a:r>
            <a:r>
              <a:rPr lang="en-US" sz="1400" dirty="0">
                <a:solidFill>
                  <a:srgbClr val="ABB7D0"/>
                </a:solidFill>
                <a:latin typeface="Aptos"/>
              </a:rPr>
              <a:t>code</a:t>
            </a:r>
            <a:r>
              <a:rPr sz="1400" dirty="0">
                <a:solidFill>
                  <a:srgbClr val="ABB7D0"/>
                </a:solidFill>
                <a:latin typeface="Aptos"/>
              </a:rPr>
              <a:t> edits and testing.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449056" y="2578608"/>
            <a:ext cx="475488" cy="274320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AE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85632" y="2619756"/>
            <a:ext cx="40233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4AE499"/>
                </a:solidFill>
                <a:latin typeface="Aptos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3508338"/>
            <a:ext cx="3429000" cy="16002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3474720"/>
            <a:ext cx="50292" cy="1600200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50392" y="3639312"/>
            <a:ext cx="2080249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Debugging overhead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50392" y="4078224"/>
            <a:ext cx="294824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Frontend issues can require context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switching between files and tools.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59536" y="4636008"/>
            <a:ext cx="475488" cy="274320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FF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112" y="4677156"/>
            <a:ext cx="40233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AA4A"/>
                </a:solidFill>
                <a:latin typeface="Aptos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3474720"/>
            <a:ext cx="3429000" cy="16002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434840" y="3474720"/>
            <a:ext cx="50292" cy="1600200"/>
          </a:xfrm>
          <a:prstGeom prst="rect">
            <a:avLst/>
          </a:prstGeom>
          <a:solidFill>
            <a:srgbClr val="FF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45152" y="3639312"/>
            <a:ext cx="2005229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Disconnected tools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645152" y="4078224"/>
            <a:ext cx="3101939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Coding, preview, AI assistance </a:t>
            </a:r>
            <a:r>
              <a:rPr lang="en-US" sz="1400" dirty="0">
                <a:solidFill>
                  <a:srgbClr val="ABB7D0"/>
                </a:solidFill>
                <a:latin typeface="Aptos"/>
              </a:rPr>
              <a:t>and</a:t>
            </a: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deployment are often separate steps.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654296" y="4636008"/>
            <a:ext cx="475488" cy="274320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FF5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690872" y="4677156"/>
            <a:ext cx="402336" cy="2011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5C90"/>
                </a:solidFill>
                <a:latin typeface="Aptos"/>
              </a:rPr>
              <a:t>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03</a:t>
            </a:r>
          </a:p>
        </p:txBody>
      </p:sp>
      <p:pic>
        <p:nvPicPr>
          <p:cNvPr id="41" name="Picture 40" descr="code-gen-logo.png">
            <a:extLst>
              <a:ext uri="{FF2B5EF4-FFF2-40B4-BE49-F238E27FC236}">
                <a16:creationId xmlns:a16="http://schemas.microsoft.com/office/drawing/2014/main" id="{412ED412-67DD-6738-2076-13BBEBB870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16" y="-354155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44D541C1-36C6-8B95-65F2-A88A4D6E4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03  | 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63670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Bring generation, editing, preview, assistance and deployment into one workflow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1828800" cy="15727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50292" cy="1572768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039112"/>
            <a:ext cx="76655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INPUT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8848" y="2519777"/>
            <a:ext cx="1683410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Prompt / Voice / Image</a:t>
            </a:r>
            <a:endParaRPr lang="en-US" sz="1200">
              <a:solidFill>
                <a:schemeClr val="bg1"/>
              </a:solidFill>
              <a:highlight>
                <a:srgbClr val="FFFF00"/>
              </a:highlight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2350008" y="2660904"/>
            <a:ext cx="493776" cy="0"/>
          </a:xfrm>
          <a:prstGeom prst="line">
            <a:avLst/>
          </a:prstGeom>
          <a:ln w="25400">
            <a:solidFill>
              <a:srgbClr val="46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80360" y="1874519"/>
            <a:ext cx="1828800" cy="15727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80360" y="1874519"/>
            <a:ext cx="50292" cy="1572768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0672" y="2039112"/>
            <a:ext cx="37221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AI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81905" y="2478024"/>
            <a:ext cx="1729961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Understand + Generate</a:t>
            </a:r>
            <a:endParaRPr lang="en-US" sz="1200">
              <a:solidFill>
                <a:schemeClr val="bg1"/>
              </a:solidFill>
              <a:highlight>
                <a:srgbClr val="FFFF00"/>
              </a:highlight>
              <a:latin typeface="Apto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4727448" y="2660904"/>
            <a:ext cx="493776" cy="0"/>
          </a:xfrm>
          <a:prstGeom prst="line">
            <a:avLst/>
          </a:prstGeom>
          <a:ln w="25400">
            <a:solidFill>
              <a:srgbClr val="8F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57800" y="1874519"/>
            <a:ext cx="1828800" cy="15727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257800" y="1874519"/>
            <a:ext cx="50292" cy="1572768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68112" y="2039112"/>
            <a:ext cx="741485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CODE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68112" y="2478024"/>
            <a:ext cx="1274708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HTML + CSS + JS</a:t>
            </a:r>
            <a:endParaRPr lang="en-US" sz="1200">
              <a:solidFill>
                <a:schemeClr val="bg1"/>
              </a:solidFill>
              <a:highlight>
                <a:srgbClr val="FFFF00"/>
              </a:highlight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104888" y="2660904"/>
            <a:ext cx="493776" cy="0"/>
          </a:xfrm>
          <a:prstGeom prst="line">
            <a:avLst/>
          </a:prstGeom>
          <a:ln w="25400">
            <a:solidFill>
              <a:srgbClr val="4AE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635240" y="1874519"/>
            <a:ext cx="1828800" cy="15727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635240" y="1874519"/>
            <a:ext cx="50292" cy="1572768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45552" y="2039112"/>
            <a:ext cx="105291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PREVIEW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45552" y="2478024"/>
            <a:ext cx="1434495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Render in real time</a:t>
            </a:r>
            <a:endParaRPr lang="en-US" sz="1200">
              <a:solidFill>
                <a:schemeClr val="bg1"/>
              </a:solidFill>
              <a:highlight>
                <a:srgbClr val="FFFF00"/>
              </a:highlight>
              <a:latin typeface="Aptos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9482328" y="2660904"/>
            <a:ext cx="493776" cy="0"/>
          </a:xfrm>
          <a:prstGeom prst="line">
            <a:avLst/>
          </a:prstGeom>
          <a:ln w="25400">
            <a:solidFill>
              <a:srgbClr val="FFA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012680" y="1874519"/>
            <a:ext cx="1828800" cy="157276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0012680" y="1874519"/>
            <a:ext cx="50292" cy="1572768"/>
          </a:xfrm>
          <a:prstGeom prst="rect">
            <a:avLst/>
          </a:prstGeom>
          <a:solidFill>
            <a:srgbClr val="FF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222992" y="2039112"/>
            <a:ext cx="939103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DEPLOY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222992" y="2478024"/>
            <a:ext cx="600805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dirty="0" err="1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Vercel</a:t>
            </a:r>
            <a:endParaRPr lang="en-US" sz="1200">
              <a:solidFill>
                <a:schemeClr val="bg1"/>
              </a:solidFill>
              <a:highlight>
                <a:srgbClr val="FFFF00"/>
              </a:highlight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4400" y="4160520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6F8FC"/>
                </a:solidFill>
                <a:latin typeface="Aptos Display"/>
              </a:rPr>
              <a:t>One continuous loop: describe → generate → inspect → improve → publish.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69080" y="4983480"/>
            <a:ext cx="388620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8F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105656" y="5024628"/>
            <a:ext cx="381304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8F5CFF"/>
                </a:solidFill>
                <a:latin typeface="Aptos"/>
              </a:rPr>
              <a:t>AI-ASSISTED DEVELOPMENT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04</a:t>
            </a:r>
          </a:p>
        </p:txBody>
      </p:sp>
      <p:pic>
        <p:nvPicPr>
          <p:cNvPr id="38" name="Picture 37" descr="code-gen-logo.png">
            <a:extLst>
              <a:ext uri="{FF2B5EF4-FFF2-40B4-BE49-F238E27FC236}">
                <a16:creationId xmlns:a16="http://schemas.microsoft.com/office/drawing/2014/main" id="{8EB539A7-AB76-C0BE-9FD5-C630D1A58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16" y="-354155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1E719D9F-B373-B9FF-EB57-D7D911181E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04  |  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2191947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Core goals of the platform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0292" cy="178308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536192"/>
            <a:ext cx="1151405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>
                <a:solidFill>
                  <a:srgbClr val="F6F8FC"/>
                </a:solidFill>
                <a:latin typeface="Aptos"/>
              </a:rPr>
              <a:t>Generate</a:t>
            </a:r>
            <a:endParaRPr lang="en-US" b="1">
              <a:solidFill>
                <a:srgbClr val="F6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316875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Create complete website layouts from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natural-language instructions.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34840" y="137160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371600"/>
            <a:ext cx="50292" cy="178308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536192"/>
            <a:ext cx="828112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>
                <a:solidFill>
                  <a:srgbClr val="F6F8FC"/>
                </a:solidFill>
                <a:latin typeface="Aptos"/>
              </a:rPr>
              <a:t>Assist</a:t>
            </a:r>
            <a:endParaRPr lang="en-US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45152" y="1975104"/>
            <a:ext cx="2726644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Use AI to modify, debug, analyze,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refactor and optimize code.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50292" cy="178308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536192"/>
            <a:ext cx="1133387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>
                <a:solidFill>
                  <a:srgbClr val="F6F8FC"/>
                </a:solidFill>
                <a:latin typeface="Aptos"/>
              </a:rPr>
              <a:t>Visualize</a:t>
            </a:r>
            <a:endParaRPr lang="en-US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9912" y="1975104"/>
            <a:ext cx="2979726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Show generated output immediately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through live preview.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520440"/>
            <a:ext cx="50292" cy="1783080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3685032"/>
            <a:ext cx="1150636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>
                <a:solidFill>
                  <a:srgbClr val="F6F8FC"/>
                </a:solidFill>
                <a:latin typeface="Aptos"/>
              </a:rPr>
              <a:t>Translate</a:t>
            </a:r>
            <a:endParaRPr lang="en-US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" y="4123944"/>
            <a:ext cx="2969403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Convert voice instructions and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screenshots into web development </a:t>
            </a:r>
            <a:endParaRPr lang="en-US" sz="140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inputs.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434840" y="352044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520440"/>
            <a:ext cx="50292" cy="1783080"/>
          </a:xfrm>
          <a:prstGeom prst="rect">
            <a:avLst/>
          </a:prstGeom>
          <a:solidFill>
            <a:srgbClr val="FF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3685032"/>
            <a:ext cx="1004186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>
                <a:solidFill>
                  <a:srgbClr val="F6F8FC"/>
                </a:solidFill>
                <a:latin typeface="Aptos"/>
              </a:rPr>
              <a:t>Manage</a:t>
            </a:r>
            <a:endParaRPr lang="en-US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645152" y="4123944"/>
            <a:ext cx="250979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Save and load projects and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maintain session-based work.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29600" y="352044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520440"/>
            <a:ext cx="50292" cy="178308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9912" y="3685032"/>
            <a:ext cx="924612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>
                <a:solidFill>
                  <a:srgbClr val="F6F8FC"/>
                </a:solidFill>
                <a:latin typeface="Aptos"/>
              </a:rPr>
              <a:t>Deploy</a:t>
            </a:r>
            <a:endParaRPr lang="en-US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39912" y="4123944"/>
            <a:ext cx="2982804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Provide a direct path from generated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project to </a:t>
            </a:r>
            <a:r>
              <a:rPr sz="1400" dirty="0" err="1">
                <a:solidFill>
                  <a:srgbClr val="ABB7D0"/>
                </a:solidFill>
                <a:latin typeface="Aptos"/>
              </a:rPr>
              <a:t>Vercel</a:t>
            </a:r>
            <a:r>
              <a:rPr sz="1400" dirty="0">
                <a:solidFill>
                  <a:srgbClr val="ABB7D0"/>
                </a:solidFill>
                <a:latin typeface="Aptos"/>
              </a:rPr>
              <a:t> hosting.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05</a:t>
            </a:r>
          </a:p>
        </p:txBody>
      </p:sp>
      <p:pic>
        <p:nvPicPr>
          <p:cNvPr id="35" name="Picture 34" descr="code-gen-logo.png">
            <a:extLst>
              <a:ext uri="{FF2B5EF4-FFF2-40B4-BE49-F238E27FC236}">
                <a16:creationId xmlns:a16="http://schemas.microsoft.com/office/drawing/2014/main" id="{B31906B7-8DE6-0B61-2AEB-52B1D0BD9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16" y="-354155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4DE0AD5-D97B-ECDF-8895-02CB643602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05  |  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3848169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Capabilities implemented in the current project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371600"/>
            <a:ext cx="2578608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371600"/>
            <a:ext cx="50292" cy="178308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1536192"/>
            <a:ext cx="226106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AI Website Generation</a:t>
            </a:r>
            <a:endParaRPr lang="en-US" sz="1600" b="1">
              <a:solidFill>
                <a:srgbClr val="F6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91760" y="1975104"/>
            <a:ext cx="473110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Generate modern web /components from natural-language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prompts.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474720" y="1371600"/>
            <a:ext cx="2578608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371600"/>
            <a:ext cx="50292" cy="178308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85032" y="1536192"/>
            <a:ext cx="152535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Voice-to-Code</a:t>
            </a:r>
            <a:endParaRPr lang="en-US" sz="1600" b="1">
              <a:solidFill>
                <a:srgbClr val="F6F8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85032" y="1975104"/>
            <a:ext cx="2425792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Use browser speech input to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describe requirements.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55080" y="1371600"/>
            <a:ext cx="2578608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55080" y="1371600"/>
            <a:ext cx="50292" cy="1783080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65392" y="1536192"/>
            <a:ext cx="1848326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Image-to-Website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565392" y="1975104"/>
            <a:ext cx="2291909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Analyze screenshots and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generate</a:t>
            </a:r>
            <a:r>
              <a:rPr sz="1400" dirty="0">
                <a:solidFill>
                  <a:srgbClr val="ABB7D0"/>
                </a:solidFill>
                <a:latin typeface="Aptos"/>
              </a:rPr>
              <a:t> a website starting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point.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9235440" y="1371600"/>
            <a:ext cx="2578608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35440" y="1371600"/>
            <a:ext cx="50292" cy="178308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45752" y="1536192"/>
            <a:ext cx="169328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Live Code Editor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88870" y="1986310"/>
            <a:ext cx="2412905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Edit generated HTML/CSS/JS </a:t>
            </a:r>
            <a:endParaRPr lang="en-US" sz="140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directly.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94360" y="3520440"/>
            <a:ext cx="2578608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520440"/>
            <a:ext cx="50292" cy="1783080"/>
          </a:xfrm>
          <a:prstGeom prst="rect">
            <a:avLst/>
          </a:prstGeom>
          <a:solidFill>
            <a:srgbClr val="FF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685032"/>
            <a:ext cx="1894493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Real-Time Preview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7790" y="4123944"/>
            <a:ext cx="2596929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See the current website output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while editing.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74720" y="3520440"/>
            <a:ext cx="2578608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74720" y="3520440"/>
            <a:ext cx="50292" cy="178308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85032" y="3685032"/>
            <a:ext cx="1829603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AI Code Assistant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85032" y="4123944"/>
            <a:ext cx="2351926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Modify • Debug • Refactor •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Analyze • Optimize.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355080" y="3520440"/>
            <a:ext cx="2578608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355080" y="3520440"/>
            <a:ext cx="50292" cy="178308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65392" y="3685032"/>
            <a:ext cx="211269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Project Management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65392" y="4123944"/>
            <a:ext cx="197772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Save, load and manage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generated projects.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235440" y="3520440"/>
            <a:ext cx="2578608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235440" y="3520440"/>
            <a:ext cx="50292" cy="1783080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445752" y="3685032"/>
            <a:ext cx="1962910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 err="1">
                <a:solidFill>
                  <a:srgbClr val="F6F8FC"/>
                </a:solidFill>
                <a:latin typeface="Aptos"/>
              </a:rPr>
              <a:t>Vercel</a:t>
            </a:r>
            <a:r>
              <a:rPr sz="1600" b="1" dirty="0">
                <a:solidFill>
                  <a:srgbClr val="F6F8FC"/>
                </a:solidFill>
                <a:latin typeface="Aptos"/>
              </a:rPr>
              <a:t> Deployment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445752" y="4123944"/>
            <a:ext cx="2292935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Deploy generated websites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and receive hosted output.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06</a:t>
            </a:r>
          </a:p>
        </p:txBody>
      </p:sp>
      <p:pic>
        <p:nvPicPr>
          <p:cNvPr id="43" name="Picture 42" descr="code-gen-logo.png">
            <a:extLst>
              <a:ext uri="{FF2B5EF4-FFF2-40B4-BE49-F238E27FC236}">
                <a16:creationId xmlns:a16="http://schemas.microsoft.com/office/drawing/2014/main" id="{F434E163-0607-6851-E842-23FB23109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010" y="-443802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775C94FD-BA72-D43F-0776-AF21459A7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06  |  AI Engine &amp; Model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6529929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Current implementation separates text/code generation from visual understanding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212080" cy="18288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50292" cy="182880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581912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8FC"/>
                </a:solidFill>
                <a:latin typeface="Aptos"/>
              </a:rPr>
              <a:t>Text / Code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020824"/>
            <a:ext cx="5068888" cy="73866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 err="1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Groq</a:t>
            </a:r>
            <a:r>
              <a:rPr sz="1400" dirty="0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 </a:t>
            </a:r>
            <a:r>
              <a:rPr lang="en-US" sz="1400" dirty="0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API</a:t>
            </a:r>
            <a:r>
              <a:rPr lang="en-US" sz="1400" dirty="0">
                <a:solidFill>
                  <a:srgbClr val="ABB7D0"/>
                </a:solidFill>
                <a:latin typeface="Aptos"/>
              </a:rPr>
              <a:t> Primary</a:t>
            </a:r>
            <a:r>
              <a:rPr sz="1400" dirty="0">
                <a:solidFill>
                  <a:srgbClr val="ABB7D0"/>
                </a:solidFill>
                <a:latin typeface="Aptos"/>
              </a:rPr>
              <a:t> configured model: </a:t>
            </a:r>
            <a:r>
              <a:rPr sz="1400" dirty="0" err="1">
                <a:solidFill>
                  <a:srgbClr val="ABB7D0"/>
                </a:solidFill>
                <a:latin typeface="Aptos"/>
              </a:rPr>
              <a:t>openai</a:t>
            </a:r>
            <a:r>
              <a:rPr sz="1400" dirty="0">
                <a:solidFill>
                  <a:srgbClr val="ABB7D0"/>
                </a:solidFill>
                <a:latin typeface="Aptos"/>
              </a:rPr>
              <a:t>/gpt-oss-120b
Used for website generation, modification and code-assistance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workflows.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5212080" cy="18288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50292" cy="1828800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" y="3685032"/>
            <a:ext cx="481888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6F8FC"/>
                </a:solidFill>
                <a:latin typeface="Aptos"/>
              </a:rPr>
              <a:t>Vision / Screenshot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" y="4123944"/>
            <a:ext cx="5015989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chemeClr val="bg1"/>
                </a:solidFill>
                <a:highlight>
                  <a:srgbClr val="FFFF00"/>
                </a:highlight>
                <a:latin typeface="Aptos"/>
              </a:rPr>
              <a:t>Mistral Vision</a:t>
            </a:r>
            <a:r>
              <a:rPr sz="1400" dirty="0">
                <a:solidFill>
                  <a:srgbClr val="ABB7D0"/>
                </a:solidFill>
                <a:latin typeface="Aptos"/>
              </a:rPr>
              <a:t>
Used for screenshot analysis and image-to-website workflows.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0" y="1600200"/>
            <a:ext cx="1508760" cy="13258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0" y="1600200"/>
            <a:ext cx="50292" cy="132588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54230" y="2022528"/>
            <a:ext cx="1226618" cy="461665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b="1" dirty="0">
                <a:solidFill>
                  <a:srgbClr val="F6F8FC"/>
                </a:solidFill>
                <a:latin typeface="Aptos"/>
              </a:rPr>
              <a:t>Prompt / Code </a:t>
            </a:r>
            <a:endParaRPr lang="en-US" sz="1200" b="1" dirty="0">
              <a:solidFill>
                <a:srgbClr val="F6F8FC"/>
              </a:solidFill>
              <a:latin typeface="Aptos"/>
            </a:endParaRPr>
          </a:p>
          <a:p>
            <a:r>
              <a:rPr sz="1200" b="1" dirty="0">
                <a:solidFill>
                  <a:srgbClr val="F6F8FC"/>
                </a:solidFill>
                <a:latin typeface="Aptos"/>
              </a:rPr>
              <a:t>Request</a:t>
            </a:r>
            <a:endParaRPr lang="en-US" sz="1200" b="1" dirty="0">
              <a:solidFill>
                <a:srgbClr val="F6F8FC"/>
              </a:solidFill>
              <a:latin typeface="Aptos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7927848" y="2258568"/>
            <a:ext cx="164592" cy="0"/>
          </a:xfrm>
          <a:prstGeom prst="line">
            <a:avLst/>
          </a:prstGeom>
          <a:ln w="25400">
            <a:solidFill>
              <a:srgbClr val="8F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138160" y="1600200"/>
            <a:ext cx="1508760" cy="13258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38160" y="1600200"/>
            <a:ext cx="50292" cy="132588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48472" y="1932880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F8FC"/>
                </a:solidFill>
                <a:latin typeface="Aptos"/>
              </a:rPr>
              <a:t>Groq
GPT-OSS 120B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65208" y="2258568"/>
            <a:ext cx="164592" cy="0"/>
          </a:xfrm>
          <a:prstGeom prst="line">
            <a:avLst/>
          </a:prstGeom>
          <a:ln w="25400">
            <a:solidFill>
              <a:srgbClr val="46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75520" y="1600200"/>
            <a:ext cx="1508760" cy="13258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875520" y="1600200"/>
            <a:ext cx="50292" cy="132588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63420" y="2112174"/>
            <a:ext cx="1322926" cy="276999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200" b="1" dirty="0">
                <a:solidFill>
                  <a:srgbClr val="F6F8FC"/>
                </a:solidFill>
                <a:latin typeface="Aptos"/>
              </a:rPr>
              <a:t>Generated Code</a:t>
            </a:r>
            <a:endParaRPr lang="en-US" sz="12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400800" y="3794760"/>
            <a:ext cx="1508760" cy="13258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00800" y="3794760"/>
            <a:ext cx="50292" cy="132588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55083" y="4306734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F8FC"/>
                </a:solidFill>
                <a:latin typeface="Aptos"/>
              </a:rPr>
              <a:t>UI Screenshot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27848" y="4453128"/>
            <a:ext cx="164592" cy="0"/>
          </a:xfrm>
          <a:prstGeom prst="line">
            <a:avLst/>
          </a:prstGeom>
          <a:ln w="25400">
            <a:solidFill>
              <a:srgbClr val="8F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8138160" y="3794760"/>
            <a:ext cx="1508760" cy="13258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138160" y="3794760"/>
            <a:ext cx="50292" cy="1325880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2" y="4261911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F8FC"/>
                </a:solidFill>
                <a:latin typeface="Aptos"/>
              </a:rPr>
              <a:t>Mistral
Vision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665208" y="4453128"/>
            <a:ext cx="164592" cy="0"/>
          </a:xfrm>
          <a:prstGeom prst="line">
            <a:avLst/>
          </a:prstGeom>
          <a:ln w="25400">
            <a:solidFill>
              <a:srgbClr val="FFA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875520" y="3794760"/>
            <a:ext cx="1508760" cy="13258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875520" y="3794760"/>
            <a:ext cx="50292" cy="132588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63420" y="4306734"/>
            <a:ext cx="111556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6F8FC"/>
                </a:solidFill>
                <a:latin typeface="Aptos"/>
              </a:rPr>
              <a:t>UI Spec / Code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07</a:t>
            </a:r>
          </a:p>
        </p:txBody>
      </p:sp>
      <p:pic>
        <p:nvPicPr>
          <p:cNvPr id="41" name="Picture 40" descr="code-gen-logo.png">
            <a:extLst>
              <a:ext uri="{FF2B5EF4-FFF2-40B4-BE49-F238E27FC236}">
                <a16:creationId xmlns:a16="http://schemas.microsoft.com/office/drawing/2014/main" id="{9E0C3B5D-50EE-6B0A-5064-6FFC0ADA5D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010" y="-387773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34E21C3A-AEF2-4F87-DF18-6EE8E9FE2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07  | 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422154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Frontend → API → AI → code processing → deployment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7</a:t>
            </a:r>
          </a:p>
        </p:txBody>
      </p:sp>
      <p:pic>
        <p:nvPicPr>
          <p:cNvPr id="9" name="Picture 8" descr="Project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45" y="1205843"/>
            <a:ext cx="4572000" cy="52578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5216" y="1207008"/>
            <a:ext cx="4681728" cy="5376672"/>
          </a:xfrm>
          <a:prstGeom prst="roundRect">
            <a:avLst/>
          </a:prstGeom>
          <a:noFill/>
          <a:ln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623560" y="1298448"/>
            <a:ext cx="5897880" cy="74980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23560" y="1298448"/>
            <a:ext cx="50292" cy="749808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33872" y="1350980"/>
            <a:ext cx="102803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Frontend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33872" y="1689040"/>
            <a:ext cx="3486595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React • Monaco Editor • Voice/Image input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01148" y="2219930"/>
            <a:ext cx="5897880" cy="74980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23560" y="2231136"/>
            <a:ext cx="50292" cy="749808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833872" y="2272463"/>
            <a:ext cx="152997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Backend &amp; API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01108" y="2610522"/>
            <a:ext cx="2539350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 err="1">
                <a:solidFill>
                  <a:srgbClr val="ABB7D0"/>
                </a:solidFill>
                <a:latin typeface="Aptos"/>
              </a:rPr>
              <a:t>FastAPI</a:t>
            </a:r>
            <a:r>
              <a:rPr sz="1400" dirty="0">
                <a:solidFill>
                  <a:srgbClr val="ABB7D0"/>
                </a:solidFill>
                <a:latin typeface="Aptos"/>
              </a:rPr>
              <a:t> • </a:t>
            </a:r>
            <a:r>
              <a:rPr sz="1400" dirty="0" err="1">
                <a:solidFill>
                  <a:srgbClr val="ABB7D0"/>
                </a:solidFill>
                <a:latin typeface="Aptos"/>
              </a:rPr>
              <a:t>Pydantic</a:t>
            </a:r>
            <a:r>
              <a:rPr sz="1400" dirty="0">
                <a:solidFill>
                  <a:srgbClr val="ABB7D0"/>
                </a:solidFill>
                <a:latin typeface="Aptos"/>
              </a:rPr>
              <a:t> • REST APIs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623560" y="3163824"/>
            <a:ext cx="5897880" cy="74980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23560" y="3163824"/>
            <a:ext cx="50292" cy="749808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01107" y="3205151"/>
            <a:ext cx="1040670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AI Engine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33872" y="3588034"/>
            <a:ext cx="3058081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 err="1">
                <a:solidFill>
                  <a:srgbClr val="ABB7D0"/>
                </a:solidFill>
                <a:latin typeface="Aptos"/>
              </a:rPr>
              <a:t>Groq</a:t>
            </a:r>
            <a:r>
              <a:rPr sz="1400" dirty="0">
                <a:solidFill>
                  <a:srgbClr val="ABB7D0"/>
                </a:solidFill>
                <a:latin typeface="Aptos"/>
              </a:rPr>
              <a:t> • GPT-OSS 120B • Mistral Vision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623560" y="4096512"/>
            <a:ext cx="5897880" cy="74980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623560" y="4096512"/>
            <a:ext cx="50292" cy="749808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33872" y="4261104"/>
            <a:ext cx="1749710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Code Processing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833872" y="4520722"/>
            <a:ext cx="3678571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HTML/CSS/JS extraction, validation &amp; preview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5623560" y="5029200"/>
            <a:ext cx="5897880" cy="749808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623560" y="5029200"/>
            <a:ext cx="50292" cy="749808"/>
          </a:xfrm>
          <a:prstGeom prst="rect">
            <a:avLst/>
          </a:prstGeom>
          <a:solidFill>
            <a:srgbClr val="FF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833872" y="5059321"/>
            <a:ext cx="1330429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Deployment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833872" y="5475822"/>
            <a:ext cx="2500621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 err="1">
                <a:solidFill>
                  <a:srgbClr val="ABB7D0"/>
                </a:solidFill>
                <a:latin typeface="Aptos"/>
              </a:rPr>
              <a:t>Vercel</a:t>
            </a:r>
            <a:r>
              <a:rPr sz="1400" dirty="0">
                <a:solidFill>
                  <a:srgbClr val="ABB7D0"/>
                </a:solidFill>
                <a:latin typeface="Aptos"/>
              </a:rPr>
              <a:t> deployment integration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08</a:t>
            </a:r>
          </a:p>
        </p:txBody>
      </p:sp>
      <p:pic>
        <p:nvPicPr>
          <p:cNvPr id="33" name="Picture 32" descr="code-gen-logo.png">
            <a:extLst>
              <a:ext uri="{FF2B5EF4-FFF2-40B4-BE49-F238E27FC236}">
                <a16:creationId xmlns:a16="http://schemas.microsoft.com/office/drawing/2014/main" id="{73CEB1C6-BCC1-5BAB-FA20-5FE503C71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1010" y="-443802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12A231-D589-1046-F2C9-273B08F52F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 dirty="0">
                <a:solidFill>
                  <a:srgbClr val="F6F8FC"/>
                </a:solidFill>
                <a:latin typeface="Aptos Display"/>
              </a:rPr>
              <a:t>09  |  End-to-End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355251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dirty="0">
                <a:solidFill>
                  <a:srgbClr val="ABB7D0"/>
                </a:solidFill>
                <a:latin typeface="Aptos"/>
              </a:rPr>
              <a:t>Typical user journey inside AutoGen AI</a:t>
            </a:r>
            <a:endParaRPr lang="en-US" sz="16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234440"/>
            <a:ext cx="50292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306" y="1275588"/>
            <a:ext cx="335348" cy="2616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100" b="1" dirty="0">
                <a:solidFill>
                  <a:srgbClr val="46D3FF"/>
                </a:solidFill>
                <a:latin typeface="Aptos"/>
              </a:rPr>
              <a:t>01</a:t>
            </a:r>
            <a:endParaRPr lang="en-US" sz="1100" b="1" dirty="0">
              <a:solidFill>
                <a:srgbClr val="46D3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17320" y="1206895"/>
            <a:ext cx="210312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1" dirty="0">
                <a:solidFill>
                  <a:srgbClr val="F6F8FC"/>
                </a:solidFill>
                <a:latin typeface="Aptos"/>
              </a:rPr>
              <a:t>Describe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22233" y="1274131"/>
            <a:ext cx="740664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0" dirty="0">
                <a:solidFill>
                  <a:srgbClr val="ABB7D0"/>
                </a:solidFill>
                <a:latin typeface="Aptos"/>
              </a:rPr>
              <a:t>“Create a modern travel </a:t>
            </a:r>
            <a:r>
              <a:rPr lang="en-US" sz="1600" dirty="0">
                <a:solidFill>
                  <a:srgbClr val="ABB7D0"/>
                </a:solidFill>
                <a:latin typeface="Aptos"/>
              </a:rPr>
              <a:t>we</a:t>
            </a:r>
            <a:endParaRPr lang="en-US" sz="1600" b="0" dirty="0">
              <a:solidFill>
                <a:srgbClr val="ABB7D0"/>
              </a:solidFill>
              <a:latin typeface="Aptos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978408" y="1554480"/>
            <a:ext cx="0" cy="338328"/>
          </a:xfrm>
          <a:prstGeom prst="line">
            <a:avLst/>
          </a:prstGeom>
          <a:ln w="19050">
            <a:solidFill>
              <a:srgbClr val="46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1520" y="2002536"/>
            <a:ext cx="50292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8F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306" y="2043684"/>
            <a:ext cx="335348" cy="2616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100" b="1" dirty="0">
                <a:solidFill>
                  <a:srgbClr val="8F5CFF"/>
                </a:solidFill>
                <a:latin typeface="Aptos"/>
              </a:rPr>
              <a:t>02</a:t>
            </a:r>
            <a:endParaRPr lang="en-US" sz="1100" b="1" dirty="0">
              <a:solidFill>
                <a:srgbClr val="8F5C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1974991"/>
            <a:ext cx="210312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1" dirty="0">
                <a:solidFill>
                  <a:srgbClr val="F6F8FC"/>
                </a:solidFill>
                <a:latin typeface="Aptos"/>
              </a:rPr>
              <a:t>Generate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8408" y="2322576"/>
            <a:ext cx="0" cy="338328"/>
          </a:xfrm>
          <a:prstGeom prst="line">
            <a:avLst/>
          </a:prstGeom>
          <a:ln w="19050">
            <a:solidFill>
              <a:srgbClr val="8F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2770632"/>
            <a:ext cx="50292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AE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5306" y="2811780"/>
            <a:ext cx="335348" cy="2616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100" b="1" dirty="0">
                <a:solidFill>
                  <a:srgbClr val="4AE499"/>
                </a:solidFill>
                <a:latin typeface="Aptos"/>
              </a:rPr>
              <a:t>03</a:t>
            </a:r>
            <a:endParaRPr lang="en-US" sz="1100" b="1" dirty="0">
              <a:solidFill>
                <a:srgbClr val="4AE499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17320" y="2743087"/>
            <a:ext cx="210312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1" dirty="0">
                <a:solidFill>
                  <a:srgbClr val="F6F8FC"/>
                </a:solidFill>
                <a:latin typeface="Aptos"/>
              </a:rPr>
              <a:t>Preview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78408" y="3090672"/>
            <a:ext cx="0" cy="338328"/>
          </a:xfrm>
          <a:prstGeom prst="line">
            <a:avLst/>
          </a:prstGeom>
          <a:ln w="19050">
            <a:solidFill>
              <a:srgbClr val="4AE4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31520" y="3538728"/>
            <a:ext cx="50292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FFA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5306" y="3579876"/>
            <a:ext cx="335348" cy="2616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100" b="1" dirty="0">
                <a:solidFill>
                  <a:srgbClr val="FFAA4A"/>
                </a:solidFill>
                <a:latin typeface="Aptos"/>
              </a:rPr>
              <a:t>04</a:t>
            </a:r>
            <a:endParaRPr lang="en-US" sz="1100" b="1" dirty="0">
              <a:solidFill>
                <a:srgbClr val="FFAA4A"/>
              </a:solidFill>
              <a:latin typeface="Apto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417320" y="3511183"/>
            <a:ext cx="210312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1" dirty="0">
                <a:solidFill>
                  <a:srgbClr val="F6F8FC"/>
                </a:solidFill>
                <a:latin typeface="Aptos"/>
              </a:rPr>
              <a:t>Improve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78408" y="3858768"/>
            <a:ext cx="0" cy="338328"/>
          </a:xfrm>
          <a:prstGeom prst="line">
            <a:avLst/>
          </a:prstGeom>
          <a:ln w="19050">
            <a:solidFill>
              <a:srgbClr val="FFAA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31520" y="4306824"/>
            <a:ext cx="50292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FF5C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5306" y="4347972"/>
            <a:ext cx="335348" cy="2616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100" b="1" dirty="0">
                <a:solidFill>
                  <a:srgbClr val="FF5C90"/>
                </a:solidFill>
                <a:latin typeface="Aptos"/>
              </a:rPr>
              <a:t>05</a:t>
            </a:r>
            <a:endParaRPr lang="en-US" sz="1100" b="1" dirty="0">
              <a:solidFill>
                <a:srgbClr val="FF5C9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17320" y="4279279"/>
            <a:ext cx="210312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1" dirty="0">
                <a:solidFill>
                  <a:srgbClr val="F6F8FC"/>
                </a:solidFill>
                <a:latin typeface="Aptos"/>
              </a:rPr>
              <a:t>Save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78408" y="4626864"/>
            <a:ext cx="0" cy="338328"/>
          </a:xfrm>
          <a:prstGeom prst="line">
            <a:avLst/>
          </a:prstGeom>
          <a:ln w="19050">
            <a:solidFill>
              <a:srgbClr val="FF5C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31520" y="5074920"/>
            <a:ext cx="50292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5306" y="5116068"/>
            <a:ext cx="335348" cy="2616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sz="1100" b="1" dirty="0">
                <a:solidFill>
                  <a:srgbClr val="46D3FF"/>
                </a:solidFill>
                <a:latin typeface="Aptos"/>
              </a:rPr>
              <a:t>06</a:t>
            </a:r>
            <a:endParaRPr lang="en-US" sz="1100" b="1" dirty="0">
              <a:solidFill>
                <a:srgbClr val="46D3FF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417320" y="5047375"/>
            <a:ext cx="2103120" cy="338554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 algn="l"/>
            <a:r>
              <a:rPr sz="1600" b="1" dirty="0">
                <a:solidFill>
                  <a:srgbClr val="F6F8FC"/>
                </a:solidFill>
                <a:latin typeface="Aptos"/>
              </a:rPr>
              <a:t>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10</a:t>
            </a:r>
          </a:p>
        </p:txBody>
      </p:sp>
      <p:pic>
        <p:nvPicPr>
          <p:cNvPr id="40" name="Picture 39" descr="code-gen-logo.png">
            <a:extLst>
              <a:ext uri="{FF2B5EF4-FFF2-40B4-BE49-F238E27FC236}">
                <a16:creationId xmlns:a16="http://schemas.microsoft.com/office/drawing/2014/main" id="{1EBDBEE5-0A76-4A27-4DA7-09C523E3C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010" y="-421390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54F0FF18-04D5-F20D-0182-4F818577D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1" name="Rounded Rectangle 14">
            <a:extLst>
              <a:ext uri="{FF2B5EF4-FFF2-40B4-BE49-F238E27FC236}">
                <a16:creationId xmlns:a16="http://schemas.microsoft.com/office/drawing/2014/main" id="{8D90CCFE-20B4-96EA-6F4B-1F05FC8106B1}"/>
              </a:ext>
            </a:extLst>
          </p:cNvPr>
          <p:cNvSpPr/>
          <p:nvPr/>
        </p:nvSpPr>
        <p:spPr>
          <a:xfrm>
            <a:off x="2833295" y="4304224"/>
            <a:ext cx="3522234" cy="592924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Keep the project for later editing.</a:t>
            </a:r>
            <a:endParaRPr lang="en-US" sz="1600" dirty="0">
              <a:solidFill>
                <a:srgbClr val="000000"/>
              </a:solidFill>
              <a:latin typeface="Aptos"/>
            </a:endParaRPr>
          </a:p>
          <a:p>
            <a:endParaRPr lang="en-US" sz="16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44" name="Rounded Rectangle 14">
            <a:extLst>
              <a:ext uri="{FF2B5EF4-FFF2-40B4-BE49-F238E27FC236}">
                <a16:creationId xmlns:a16="http://schemas.microsoft.com/office/drawing/2014/main" id="{AC5DA039-00BD-59D0-D56F-C730A1DB748E}"/>
              </a:ext>
            </a:extLst>
          </p:cNvPr>
          <p:cNvSpPr/>
          <p:nvPr/>
        </p:nvSpPr>
        <p:spPr>
          <a:xfrm>
            <a:off x="2833294" y="2063047"/>
            <a:ext cx="3522234" cy="592924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AI model creates the website code.</a:t>
            </a:r>
            <a:endParaRPr lang="en-US" sz="1600">
              <a:solidFill>
                <a:srgbClr val="000000"/>
              </a:solidFill>
              <a:latin typeface="Aptos"/>
            </a:endParaRPr>
          </a:p>
          <a:p>
            <a:endParaRPr lang="en-US" sz="16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45" name="Rounded Rectangle 14">
            <a:extLst>
              <a:ext uri="{FF2B5EF4-FFF2-40B4-BE49-F238E27FC236}">
                <a16:creationId xmlns:a16="http://schemas.microsoft.com/office/drawing/2014/main" id="{72946095-5E56-D5A1-E588-72FD77A71FDA}"/>
              </a:ext>
            </a:extLst>
          </p:cNvPr>
          <p:cNvSpPr/>
          <p:nvPr/>
        </p:nvSpPr>
        <p:spPr>
          <a:xfrm>
            <a:off x="2833295" y="2802633"/>
            <a:ext cx="4160969" cy="615336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The generated site appears inside the editor.</a:t>
            </a:r>
            <a:endParaRPr lang="en-US" sz="1600" dirty="0">
              <a:solidFill>
                <a:srgbClr val="000000"/>
              </a:solidFill>
              <a:latin typeface="Aptos"/>
            </a:endParaRPr>
          </a:p>
          <a:p>
            <a:endParaRPr lang="en-US" sz="16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46" name="Rounded Rectangle 14">
            <a:extLst>
              <a:ext uri="{FF2B5EF4-FFF2-40B4-BE49-F238E27FC236}">
                <a16:creationId xmlns:a16="http://schemas.microsoft.com/office/drawing/2014/main" id="{8A9746D9-C6FD-3DB7-36F9-8DEF8C10F7E3}"/>
              </a:ext>
            </a:extLst>
          </p:cNvPr>
          <p:cNvSpPr/>
          <p:nvPr/>
        </p:nvSpPr>
        <p:spPr>
          <a:xfrm>
            <a:off x="2833295" y="3508606"/>
            <a:ext cx="3522234" cy="592924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Ask AI to modify, debug or refactor.</a:t>
            </a:r>
            <a:endParaRPr lang="en-US" sz="1600" dirty="0">
              <a:solidFill>
                <a:srgbClr val="000000"/>
              </a:solidFill>
              <a:latin typeface="Aptos"/>
            </a:endParaRPr>
          </a:p>
          <a:p>
            <a:endParaRPr lang="en-US" sz="16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47" name="Rounded Rectangle 14">
            <a:extLst>
              <a:ext uri="{FF2B5EF4-FFF2-40B4-BE49-F238E27FC236}">
                <a16:creationId xmlns:a16="http://schemas.microsoft.com/office/drawing/2014/main" id="{A387C0B3-006D-B80A-1A6F-81952396F122}"/>
              </a:ext>
            </a:extLst>
          </p:cNvPr>
          <p:cNvSpPr/>
          <p:nvPr/>
        </p:nvSpPr>
        <p:spPr>
          <a:xfrm>
            <a:off x="2833294" y="1301047"/>
            <a:ext cx="3522234" cy="592924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“Create a modern travel website…”</a:t>
            </a:r>
            <a:endParaRPr lang="en-US" sz="1600" dirty="0">
              <a:solidFill>
                <a:srgbClr val="000000"/>
              </a:solidFill>
              <a:latin typeface="Aptos"/>
            </a:endParaRPr>
          </a:p>
          <a:p>
            <a:endParaRPr lang="en-US" sz="16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48" name="Rounded Rectangle 14">
            <a:extLst>
              <a:ext uri="{FF2B5EF4-FFF2-40B4-BE49-F238E27FC236}">
                <a16:creationId xmlns:a16="http://schemas.microsoft.com/office/drawing/2014/main" id="{3EA07A81-F85D-BCE4-2629-AEEE9BC28B4A}"/>
              </a:ext>
            </a:extLst>
          </p:cNvPr>
          <p:cNvSpPr/>
          <p:nvPr/>
        </p:nvSpPr>
        <p:spPr>
          <a:xfrm>
            <a:off x="2833295" y="5043811"/>
            <a:ext cx="3679116" cy="604129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sz="1600" dirty="0">
                <a:solidFill>
                  <a:srgbClr val="ABB7D0"/>
                </a:solidFill>
                <a:latin typeface="Aptos"/>
              </a:rPr>
              <a:t>Send the generated website to Vercel.</a:t>
            </a:r>
            <a:endParaRPr lang="en-US" sz="1600">
              <a:solidFill>
                <a:srgbClr val="000000"/>
              </a:solidFill>
              <a:latin typeface="Aptos"/>
            </a:endParaRPr>
          </a:p>
          <a:p>
            <a:endParaRPr lang="en-US" sz="1600" dirty="0">
              <a:solidFill>
                <a:srgbClr val="ABB7D0"/>
              </a:solidFill>
              <a:latin typeface="Aptos"/>
            </a:endParaRP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B4316C3A-AAE0-5479-ACD7-836BE14AC9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9902" y="1369918"/>
            <a:ext cx="5039843" cy="42750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2ED804DD-A038-399D-845B-E7CE7D74096F}"/>
              </a:ext>
            </a:extLst>
          </p:cNvPr>
          <p:cNvSpPr txBox="1"/>
          <p:nvPr/>
        </p:nvSpPr>
        <p:spPr>
          <a:xfrm>
            <a:off x="510526" y="317353"/>
            <a:ext cx="6554051" cy="55743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10  |  Product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531440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dirty="0">
                <a:latin typeface="Aptos"/>
              </a:rPr>
              <a:t>Code editor + real-time preview + AI controls in one screen</a:t>
            </a:r>
            <a:endParaRPr lang="en-US" sz="1600"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124712"/>
            <a:ext cx="8686800" cy="5440680"/>
          </a:xfrm>
          <a:prstGeom prst="roundRect">
            <a:avLst/>
          </a:prstGeom>
          <a:noFill/>
          <a:ln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464040" y="1325880"/>
            <a:ext cx="2148840" cy="123444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464040" y="1325880"/>
            <a:ext cx="50292" cy="123444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74352" y="1490472"/>
            <a:ext cx="1693284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Live Code Editor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83852" y="1828531"/>
            <a:ext cx="223586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Generated HTML/CSS/JS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can be viewed and edited.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64040" y="2788920"/>
            <a:ext cx="2148840" cy="123444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464040" y="2788920"/>
            <a:ext cx="50292" cy="123444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74352" y="2953512"/>
            <a:ext cx="1332737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Live Preview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472646" y="3257953"/>
            <a:ext cx="2406172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Real-time website rendering.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9486452" y="4251960"/>
            <a:ext cx="2148840" cy="123444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464040" y="4251960"/>
            <a:ext cx="50292" cy="123444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74352" y="4416552"/>
            <a:ext cx="1461169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AI Prompt Bar</a:t>
            </a:r>
            <a:endParaRPr lang="en-US" sz="1600" b="1">
              <a:solidFill>
                <a:srgbClr val="F6F8FC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83852" y="4754611"/>
            <a:ext cx="2136867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Natural-language input +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model selection.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11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0434902-EB1D-CC25-11CB-9FA95609D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16" y="1309625"/>
            <a:ext cx="8325973" cy="486628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6" name="Picture 25" descr="code-gen-logo.png">
            <a:extLst>
              <a:ext uri="{FF2B5EF4-FFF2-40B4-BE49-F238E27FC236}">
                <a16:creationId xmlns:a16="http://schemas.microsoft.com/office/drawing/2014/main" id="{D24FB23D-9AFF-8E29-49D7-9A636389A4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1010" y="-443802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F8517771-FD19-1ED7-8560-EAD4CEF7E0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ransition spd="slow">
    <p:randomBar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11  | 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3233129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dirty="0">
                <a:solidFill>
                  <a:srgbClr val="ABB7D0"/>
                </a:solidFill>
                <a:latin typeface="Aptos"/>
              </a:rPr>
              <a:t>Where the platform can be applied</a:t>
            </a:r>
            <a:endParaRPr lang="en-US" sz="16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25880"/>
            <a:ext cx="5166360" cy="128016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25880"/>
            <a:ext cx="50292" cy="128016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490472"/>
            <a:ext cx="1637051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Rapid Prototyping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1929384"/>
            <a:ext cx="4511876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Create a working UI concept before full implementation.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325880"/>
            <a:ext cx="5166360" cy="128016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25880"/>
            <a:ext cx="50292" cy="128016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490472"/>
            <a:ext cx="2250103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Portfolio &amp; Landing Pages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28232" y="1929384"/>
            <a:ext cx="4181209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Generate structured multi-section websites quickly.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0080" y="2898648"/>
            <a:ext cx="5166360" cy="128016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898648"/>
            <a:ext cx="50292" cy="128016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063240"/>
            <a:ext cx="1730858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Business Websites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50392" y="3502152"/>
            <a:ext cx="3863815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Create service, product and informational sites.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0" y="2898648"/>
            <a:ext cx="5166360" cy="128016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898648"/>
            <a:ext cx="50292" cy="1280160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3063240"/>
            <a:ext cx="1659557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UI Reconstruction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28232" y="3502152"/>
            <a:ext cx="4495911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Use screenshots as references for web implementation.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40080" y="4471416"/>
            <a:ext cx="5166360" cy="128016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4471416"/>
            <a:ext cx="50292" cy="1280160"/>
          </a:xfrm>
          <a:prstGeom prst="rect">
            <a:avLst/>
          </a:prstGeom>
          <a:solidFill>
            <a:srgbClr val="FF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0392" y="4636007"/>
            <a:ext cx="196188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Developer Assistance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0392" y="5074920"/>
            <a:ext cx="4155112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Modify, debug and refactor existing generated code.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217920" y="4471416"/>
            <a:ext cx="5166360" cy="128016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4471416"/>
            <a:ext cx="50292" cy="128016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28232" y="4636007"/>
            <a:ext cx="2439899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b="1" dirty="0">
                <a:solidFill>
                  <a:srgbClr val="F6F8FC"/>
                </a:solidFill>
                <a:latin typeface="Aptos"/>
              </a:rPr>
              <a:t>Learning &amp; Experimentation</a:t>
            </a:r>
            <a:endParaRPr lang="en-US" sz="14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428232" y="5074920"/>
            <a:ext cx="4659802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Explore frontend concepts through conversational coding.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12</a:t>
            </a:r>
          </a:p>
        </p:txBody>
      </p:sp>
      <p:pic>
        <p:nvPicPr>
          <p:cNvPr id="35" name="Picture 34" descr="code-gen-logo.png">
            <a:extLst>
              <a:ext uri="{FF2B5EF4-FFF2-40B4-BE49-F238E27FC236}">
                <a16:creationId xmlns:a16="http://schemas.microsoft.com/office/drawing/2014/main" id="{95B882DB-A90B-A0AD-9090-1A35C56AA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010" y="-477420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C2D5136-3173-D6A3-2985-1F72C39CC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12  |  Advantages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443134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dirty="0">
                <a:solidFill>
                  <a:srgbClr val="ABB7D0"/>
                </a:solidFill>
                <a:latin typeface="Aptos"/>
              </a:rPr>
              <a:t>Value of combining the workflow in one platform</a:t>
            </a:r>
            <a:endParaRPr lang="en-US" sz="16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0292" cy="178308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536192"/>
            <a:ext cx="1599862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Faster iteration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325287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Less context switching between coding,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preview and AI assistance.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34840" y="137160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1371600"/>
            <a:ext cx="50292" cy="178308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45152" y="1536192"/>
            <a:ext cx="2881558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Conversational development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45152" y="1975104"/>
            <a:ext cx="2897845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Requirements and changes can be 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expressed in natural language.</a:t>
            </a:r>
            <a:r>
              <a:rPr lang="en-US" sz="1400" dirty="0">
                <a:solidFill>
                  <a:srgbClr val="ABB7D0"/>
                </a:solidFill>
                <a:latin typeface="Aptos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50292" cy="178308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9912" y="1536192"/>
            <a:ext cx="1782860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Multimodal input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39912" y="1975104"/>
            <a:ext cx="307161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Prompt, voice and screenshot-based </a:t>
            </a:r>
            <a:endParaRPr lang="en-US" sz="1400">
              <a:solidFill>
                <a:srgbClr val="ABB7D0"/>
              </a:solidFill>
              <a:latin typeface="Aptos"/>
            </a:endParaRPr>
          </a:p>
          <a:p>
            <a:r>
              <a:rPr sz="1400" dirty="0">
                <a:solidFill>
                  <a:srgbClr val="ABB7D0"/>
                </a:solidFill>
                <a:latin typeface="Aptos"/>
              </a:rPr>
              <a:t>workflows.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" y="352044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520440"/>
            <a:ext cx="50292" cy="1783080"/>
          </a:xfrm>
          <a:prstGeom prst="rect">
            <a:avLst/>
          </a:prstGeom>
          <a:solidFill>
            <a:srgbClr val="FFA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0392" y="3685032"/>
            <a:ext cx="2110771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Immediate feedback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50392" y="4123944"/>
            <a:ext cx="2705612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Live preview exposes UI changes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during development.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434840" y="352044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34840" y="3520440"/>
            <a:ext cx="50292" cy="1783080"/>
          </a:xfrm>
          <a:prstGeom prst="rect">
            <a:avLst/>
          </a:prstGeom>
          <a:solidFill>
            <a:srgbClr val="FF5C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45152" y="3685032"/>
            <a:ext cx="1873205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Reusable projects</a:t>
            </a:r>
            <a:endParaRPr lang="en-US" sz="1600" b="1">
              <a:solidFill>
                <a:srgbClr val="F6F8FC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54652" y="4123944"/>
            <a:ext cx="3546164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Generated work can be saved and revisited.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8229600" y="3520440"/>
            <a:ext cx="3429000" cy="178308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3520440"/>
            <a:ext cx="50292" cy="178308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39912" y="3685032"/>
            <a:ext cx="1797223" cy="338554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600" b="1" dirty="0">
                <a:solidFill>
                  <a:srgbClr val="F6F8FC"/>
                </a:solidFill>
                <a:latin typeface="Aptos"/>
              </a:rPr>
              <a:t>Deployment path</a:t>
            </a:r>
            <a:endParaRPr lang="en-US" sz="16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439912" y="4123944"/>
            <a:ext cx="327871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The workflow continues from generation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  <a:p>
            <a:r>
              <a:rPr lang="en-US" sz="1400" dirty="0">
                <a:solidFill>
                  <a:srgbClr val="ABB7D0"/>
                </a:solidFill>
                <a:latin typeface="Aptos"/>
              </a:rPr>
              <a:t> </a:t>
            </a:r>
            <a:r>
              <a:rPr sz="1400" dirty="0">
                <a:solidFill>
                  <a:srgbClr val="ABB7D0"/>
                </a:solidFill>
                <a:latin typeface="Aptos"/>
              </a:rPr>
              <a:t>to hosted output.</a:t>
            </a:r>
            <a:endParaRPr lang="en-US" sz="1400">
              <a:solidFill>
                <a:srgbClr val="ABB7D0"/>
              </a:solidFill>
              <a:latin typeface="Apto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13</a:t>
            </a:r>
          </a:p>
        </p:txBody>
      </p:sp>
      <p:pic>
        <p:nvPicPr>
          <p:cNvPr id="35" name="Picture 34" descr="code-gen-logo.png">
            <a:extLst>
              <a:ext uri="{FF2B5EF4-FFF2-40B4-BE49-F238E27FC236}">
                <a16:creationId xmlns:a16="http://schemas.microsoft.com/office/drawing/2014/main" id="{3EDA8812-CD47-75F9-5771-7CBF7A952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010" y="-443802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F9B2475F-63EB-834D-E342-97383DF16A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13  | 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5253939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>
                <a:solidFill>
                  <a:srgbClr val="ABB7D0"/>
                </a:solidFill>
                <a:latin typeface="Aptos"/>
              </a:rPr>
              <a:t>Natural next steps for making the platform more production-ready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371600"/>
            <a:ext cx="5349240" cy="38862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371600"/>
            <a:ext cx="50292" cy="3886200"/>
          </a:xfrm>
          <a:prstGeom prst="rect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536192"/>
            <a:ext cx="276094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b="1" dirty="0">
                <a:solidFill>
                  <a:srgbClr val="F6F8FC"/>
                </a:solidFill>
                <a:latin typeface="Aptos"/>
              </a:rPr>
              <a:t>Future Enhancements</a:t>
            </a:r>
            <a:endParaRPr lang="en-US" sz="20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4166462" cy="175432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dirty="0">
                <a:solidFill>
                  <a:srgbClr val="ABB7D0"/>
                </a:solidFill>
                <a:latin typeface="Aptos"/>
              </a:rPr>
              <a:t>• Persistent cloud project storage
• GitHub / repository integration
• Automated testing and code validation
• More framework and language targets
• Stronger deployment controls
• Team collaboration and sharing</a:t>
            </a:r>
            <a:endParaRPr lang="en-US">
              <a:solidFill>
                <a:srgbClr val="ABB7D0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349240" cy="388620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50292" cy="3886200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536192"/>
            <a:ext cx="2319481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2000" b="1" dirty="0">
                <a:solidFill>
                  <a:srgbClr val="F6F8FC"/>
                </a:solidFill>
                <a:latin typeface="Aptos"/>
              </a:rPr>
              <a:t>Engineering Focus</a:t>
            </a:r>
            <a:endParaRPr lang="en-US" sz="2000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28232" y="1975104"/>
            <a:ext cx="5158143" cy="1754326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dirty="0">
                <a:solidFill>
                  <a:srgbClr val="ABB7D0"/>
                </a:solidFill>
                <a:latin typeface="Aptos"/>
              </a:rPr>
              <a:t>• Better generated-code consistency
• Safer execution and validation of generated code
• Improved responsive UI generation
• More robust error recovery
• Usage / cost observability
• Version history for generated projects</a:t>
            </a:r>
            <a:endParaRPr lang="en-US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6F8FC"/>
                </a:solidFill>
                <a:latin typeface="Aptos Display"/>
              </a:rPr>
              <a:t>The direction: from AI-assisted frontend generation toward an end-to-end AI development workspace.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14</a:t>
            </a:r>
          </a:p>
        </p:txBody>
      </p:sp>
      <p:pic>
        <p:nvPicPr>
          <p:cNvPr id="20" name="Picture 19" descr="code-gen-logo.png">
            <a:extLst>
              <a:ext uri="{FF2B5EF4-FFF2-40B4-BE49-F238E27FC236}">
                <a16:creationId xmlns:a16="http://schemas.microsoft.com/office/drawing/2014/main" id="{B689BDAE-1274-1618-A4C2-C89A7A91F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010" y="-443802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C8E6A77E-D5CB-FEE2-A660-DD7D76A6A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10896"/>
            <a:ext cx="10607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6F8FC"/>
                </a:solidFill>
                <a:latin typeface="Aptos Display"/>
              </a:rPr>
              <a:t>14  |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832104"/>
            <a:ext cx="5942781" cy="307777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sz="1400" dirty="0" err="1">
                <a:solidFill>
                  <a:srgbClr val="ABB7D0"/>
                </a:solidFill>
                <a:latin typeface="Aptos"/>
              </a:rPr>
              <a:t>AutoGen</a:t>
            </a:r>
            <a:r>
              <a:rPr sz="1400" dirty="0">
                <a:solidFill>
                  <a:srgbClr val="ABB7D0"/>
                </a:solidFill>
                <a:latin typeface="Aptos"/>
              </a:rPr>
              <a:t> AI demonstrates a practical GenAI workflow for web development</a:t>
            </a:r>
            <a:endParaRPr lang="en-US" sz="1400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927080" y="310896"/>
            <a:ext cx="594360" cy="310896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46D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63655" y="352044"/>
            <a:ext cx="521208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b="1">
                <a:solidFill>
                  <a:srgbClr val="46D3FF"/>
                </a:solidFill>
                <a:latin typeface="Aptos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6D3FF"/>
                </a:solidFill>
                <a:latin typeface="Aptos"/>
              </a:rPr>
              <a:t>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6F8FC"/>
                </a:solidFill>
                <a:latin typeface="Aptos Display"/>
              </a:rPr>
              <a:t>Natural-language intent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383280" y="2606040"/>
            <a:ext cx="2103120" cy="0"/>
          </a:xfrm>
          <a:prstGeom prst="line">
            <a:avLst/>
          </a:prstGeom>
          <a:ln w="25400">
            <a:solidFill>
              <a:srgbClr val="46D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77840" y="1417320"/>
            <a:ext cx="51206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8F5CFF"/>
                </a:solidFill>
                <a:latin typeface="Aptos"/>
              </a:rPr>
              <a:t>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965960"/>
            <a:ext cx="5120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6F8FC"/>
                </a:solidFill>
                <a:latin typeface="Aptos Display"/>
              </a:rPr>
              <a:t>Generation + assistance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83879" y="2606040"/>
            <a:ext cx="1965961" cy="0"/>
          </a:xfrm>
          <a:prstGeom prst="line">
            <a:avLst/>
          </a:prstGeom>
          <a:ln w="25400">
            <a:solidFill>
              <a:srgbClr val="8F5C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12680" y="1417320"/>
            <a:ext cx="1463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4AE499"/>
                </a:solidFill>
                <a:latin typeface="Aptos"/>
              </a:rPr>
              <a:t>OUTPUT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196596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500" b="1">
                <a:solidFill>
                  <a:srgbClr val="F6F8FC"/>
                </a:solidFill>
                <a:latin typeface="Aptos Display"/>
              </a:rPr>
              <a:t>Live 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2532" y="3825688"/>
            <a:ext cx="10195560" cy="1234440"/>
          </a:xfrm>
          <a:prstGeom prst="roundRect">
            <a:avLst/>
          </a:prstGeom>
          <a:solidFill>
            <a:srgbClr val="11182A"/>
          </a:solidFill>
          <a:ln w="12700">
            <a:solidFill>
              <a:srgbClr val="313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60120" y="3657600"/>
            <a:ext cx="50292" cy="1234440"/>
          </a:xfrm>
          <a:prstGeom prst="rect">
            <a:avLst/>
          </a:prstGeom>
          <a:solidFill>
            <a:srgbClr val="4AE4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70432" y="3822191"/>
            <a:ext cx="1623137" cy="369332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b="1" dirty="0">
                <a:solidFill>
                  <a:srgbClr val="F6F8FC"/>
                </a:solidFill>
                <a:latin typeface="Aptos"/>
              </a:rPr>
              <a:t>Key Takeaway</a:t>
            </a:r>
            <a:endParaRPr lang="en-US" b="1" dirty="0">
              <a:solidFill>
                <a:srgbClr val="F6F8F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70432" y="4261104"/>
            <a:ext cx="10007420" cy="646331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r>
              <a:rPr dirty="0" err="1">
                <a:solidFill>
                  <a:srgbClr val="ABB7D0"/>
                </a:solidFill>
                <a:latin typeface="Aptos"/>
              </a:rPr>
              <a:t>AutoGen</a:t>
            </a:r>
            <a:r>
              <a:rPr dirty="0">
                <a:solidFill>
                  <a:srgbClr val="ABB7D0"/>
                </a:solidFill>
                <a:latin typeface="Aptos"/>
              </a:rPr>
              <a:t> AI unifies AI generation, code editing, live preview, multimodal input, project management </a:t>
            </a:r>
            <a:endParaRPr lang="en-US" dirty="0">
              <a:solidFill>
                <a:srgbClr val="ABB7D0"/>
              </a:solidFill>
              <a:latin typeface="Aptos"/>
            </a:endParaRPr>
          </a:p>
          <a:p>
            <a:r>
              <a:rPr dirty="0">
                <a:solidFill>
                  <a:srgbClr val="ABB7D0"/>
                </a:solidFill>
                <a:latin typeface="Aptos"/>
              </a:rPr>
              <a:t>and deployment into one development experience.</a:t>
            </a:r>
            <a:endParaRPr lang="en-US" dirty="0">
              <a:solidFill>
                <a:srgbClr val="ABB7D0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15</a:t>
            </a:r>
          </a:p>
        </p:txBody>
      </p:sp>
      <p:pic>
        <p:nvPicPr>
          <p:cNvPr id="23" name="Picture 22" descr="code-gen-logo.png">
            <a:extLst>
              <a:ext uri="{FF2B5EF4-FFF2-40B4-BE49-F238E27FC236}">
                <a16:creationId xmlns:a16="http://schemas.microsoft.com/office/drawing/2014/main" id="{B3004040-A6C4-F55D-824D-1A3BECA3D2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1010" y="-443802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2A90FD5-BE9A-62AE-3811-359AEF661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0212" y="5374902"/>
            <a:ext cx="1660716" cy="158787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744200" y="-411480"/>
            <a:ext cx="1920240" cy="1920240"/>
          </a:xfrm>
          <a:prstGeom prst="ellipse">
            <a:avLst/>
          </a:prstGeom>
          <a:solidFill>
            <a:srgbClr val="8F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502920" y="5394960"/>
            <a:ext cx="1554480" cy="1554480"/>
          </a:xfrm>
          <a:prstGeom prst="ellipse">
            <a:avLst/>
          </a:prstGeom>
          <a:solidFill>
            <a:srgbClr val="46D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ode-gen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777240"/>
            <a:ext cx="1463040" cy="10140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1">
                <a:solidFill>
                  <a:srgbClr val="F6F8FC"/>
                </a:solidFill>
                <a:latin typeface="Aptos Display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327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1">
                <a:solidFill>
                  <a:srgbClr val="46D3FF"/>
                </a:solidFill>
                <a:latin typeface="Aptos"/>
              </a:rPr>
              <a:t>AutoGen AI — Multi-AI Code Generator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337560"/>
            <a:ext cx="10332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ABB7D0"/>
                </a:solidFill>
                <a:latin typeface="Aptos"/>
              </a:rPr>
              <a:t>Presented by Gajanan Deshmukh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4160520"/>
            <a:ext cx="4160520" cy="384048"/>
          </a:xfrm>
          <a:prstGeom prst="roundRect">
            <a:avLst/>
          </a:prstGeom>
          <a:solidFill>
            <a:srgbClr val="161F35"/>
          </a:solidFill>
          <a:ln w="12700">
            <a:solidFill>
              <a:srgbClr val="8F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59936" y="4201668"/>
            <a:ext cx="4087368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8F5CFF"/>
                </a:solidFill>
                <a:latin typeface="Aptos"/>
              </a:rPr>
              <a:t>AI  •  CODE  •  PREVIEW  •  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F6F8FC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>
                <a:solidFill>
                  <a:srgbClr val="ABB7D0"/>
                </a:solidFill>
                <a:latin typeface="Aptos"/>
              </a:rPr>
              <a:t>AUTOGEN AI  •  GAJANAN DESHMUKH  •  16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4ADE3C-FCBD-13AB-3A71-1D6C1DF1CEB3}"/>
              </a:ext>
            </a:extLst>
          </p:cNvPr>
          <p:cNvSpPr txBox="1"/>
          <p:nvPr/>
        </p:nvSpPr>
        <p:spPr>
          <a:xfrm>
            <a:off x="4886190" y="5398686"/>
            <a:ext cx="302468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 err="1"/>
              <a:t>Mobile.No</a:t>
            </a:r>
            <a:r>
              <a:rPr lang="en-US" dirty="0"/>
              <a:t>:-9359458009</a:t>
            </a:r>
          </a:p>
        </p:txBody>
      </p:sp>
      <p:pic>
        <p:nvPicPr>
          <p:cNvPr id="15" name="Picture 14" descr="code-gen-logo.png">
            <a:extLst>
              <a:ext uri="{FF2B5EF4-FFF2-40B4-BE49-F238E27FC236}">
                <a16:creationId xmlns:a16="http://schemas.microsoft.com/office/drawing/2014/main" id="{11792E7B-9844-2DB0-977A-E84A37B18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216" y="-354155"/>
            <a:ext cx="2032764" cy="180397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547</cp:revision>
  <dcterms:created xsi:type="dcterms:W3CDTF">2013-01-27T09:14:16Z</dcterms:created>
  <dcterms:modified xsi:type="dcterms:W3CDTF">2026-09-22T20:57:35Z</dcterms:modified>
  <cp:category/>
</cp:coreProperties>
</file>